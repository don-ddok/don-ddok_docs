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6" r:id="rId4"/>
    <p:sldId id="258" r:id="rId5"/>
    <p:sldId id="260" r:id="rId6"/>
    <p:sldId id="261" r:id="rId7"/>
    <p:sldId id="262" r:id="rId8"/>
    <p:sldId id="265" r:id="rId9"/>
    <p:sldId id="263" r:id="rId10"/>
    <p:sldId id="270" r:id="rId11"/>
    <p:sldId id="273" r:id="rId12"/>
    <p:sldId id="264" r:id="rId13"/>
    <p:sldId id="269" r:id="rId14"/>
    <p:sldId id="274" r:id="rId15"/>
    <p:sldId id="266" r:id="rId16"/>
    <p:sldId id="271" r:id="rId17"/>
    <p:sldId id="272" r:id="rId18"/>
    <p:sldId id="267" r:id="rId19"/>
    <p:sldId id="275" r:id="rId20"/>
    <p:sldId id="268" r:id="rId21"/>
    <p:sldId id="277" r:id="rId22"/>
    <p:sldId id="278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37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다혜 신" userId="e41456a0a964f68f" providerId="LiveId" clId="{E0431AAB-A7FC-44F3-BD17-79E54BEF001E}"/>
    <pc:docChg chg="addSld">
      <pc:chgData name="다혜 신" userId="e41456a0a964f68f" providerId="LiveId" clId="{E0431AAB-A7FC-44F3-BD17-79E54BEF001E}" dt="2026-09-27T13:15:49.683" v="0" actId="680"/>
      <pc:docMkLst>
        <pc:docMk/>
      </pc:docMkLst>
      <pc:sldChg chg="new">
        <pc:chgData name="다혜 신" userId="e41456a0a964f68f" providerId="LiveId" clId="{E0431AAB-A7FC-44F3-BD17-79E54BEF001E}" dt="2026-09-27T13:15:49.683" v="0" actId="680"/>
        <pc:sldMkLst>
          <pc:docMk/>
          <pc:sldMk cId="817791400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71648-E0BD-4867-ACC9-1C31D9E93CA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83C6B-2EDE-4AFD-AA29-CACF4177FA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690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83C6B-2EDE-4AFD-AA29-CACF4177FA6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287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2F5740-DBDB-F3D5-1A31-F437C9477D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F6BD13-6AB9-AA07-1DA6-88321EFC6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8C75EE-55C4-D4A2-8A80-8CECFCCC6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0E437-1074-4398-A326-797208557BA9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03AAC9-0E12-CA53-3364-D9DF17D21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5FDBAB-1A16-C927-DFAF-68681BF21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7C8A-B735-4AC8-862F-3EFA706EA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697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B102C2-DA89-7AD6-F4C5-ED8E8AFEC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3D5782-05C3-C0B9-02E5-0A627D40C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49AEDA-6F59-1F49-87FB-4C6493F06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0E437-1074-4398-A326-797208557BA9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9F6A80-2F81-AA25-CE4F-CD8D0B63F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AAB4A7-58DB-999F-67B5-AA25131F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7C8A-B735-4AC8-862F-3EFA706EA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325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3F202E-F6B9-B570-EF9D-A74FB3F32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5A14BB-2512-E4F3-16B5-2D1314DD2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1C8A1F-C6E0-B362-4D4D-1C2B453EC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0E437-1074-4398-A326-797208557BA9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097767-E735-9F13-A553-75DB86958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6E0D13-DC05-B423-8F5B-6A17CD781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7C8A-B735-4AC8-862F-3EFA706EA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197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7116A4-916A-EAC3-F2C6-4CC425FB0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A6544B-3CBA-8F4F-C640-00313F0D58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173E28-BF2E-0C57-7728-BBAA1B70E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A23B3B-DFA2-DB74-517E-2F5C31381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0E437-1074-4398-A326-797208557BA9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899678-B7AA-AD86-F7FB-D0E000DEE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5BA391-4F39-27FE-5484-04151EF9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7C8A-B735-4AC8-862F-3EFA706EA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764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D01C1-6542-8C3A-3583-DDC5DAAC3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4CD00F-3512-3EB4-3518-B7CC965A2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408CDEF-A2B9-67B0-05AE-49A66BCB9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2AE147-F6F3-E341-7818-241F91D07F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017B12-3B81-CB7E-081D-DFE55220E0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968D6E-B79C-764C-6B7A-8FE25F69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0E437-1074-4398-A326-797208557BA9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597A9A9-F3E7-F46B-6661-B8360E954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D80AAF3-AD3A-FE48-4FB6-64F1A54EF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7C8A-B735-4AC8-862F-3EFA706EA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113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5AF91F-F0BD-170A-65F0-708EB59D6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1FF69F-AFBB-922D-F4D3-0AC78BDE0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0E437-1074-4398-A326-797208557BA9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A87755-188E-FF60-D18F-998C34941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8F1818-99EB-DB8E-6AA9-B218F1670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7C8A-B735-4AC8-862F-3EFA706EA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126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7CD5207-DD31-56A1-62DD-13DBCD36C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0E437-1074-4398-A326-797208557BA9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AFCC1B2-ADF3-CA34-2EC4-F543B230F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601E72-94B9-D183-F23D-91F12D47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7C8A-B735-4AC8-862F-3EFA706EA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5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4EDB38-9E46-F31A-2111-BE353A569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94ED7E-CFCF-7656-9B8F-B99F51707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DA473B-8CBF-7DFC-20C1-37DA93320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ABF317-AE8A-A840-B4DE-52CA30972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0E437-1074-4398-A326-797208557BA9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32CCC0-2A25-BD6B-9C0F-C37C83B47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8FFF39-36BF-97A7-7C78-5617BA5B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7C8A-B735-4AC8-862F-3EFA706EA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223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576BDB-D97A-EA40-F9CF-812E9610E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C11EDE2-339A-497F-EF47-472FF6058D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55AE07-4E2E-E383-1CCE-179A01F96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057C41-3695-4D77-C85F-0984DC92C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0E437-1074-4398-A326-797208557BA9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BA2FF1-D123-0350-23C0-F22532C74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6AFB71-1BF7-CE97-8F05-48750AB5C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7C8A-B735-4AC8-862F-3EFA706EA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13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0E3A93-31E6-7727-1F3C-3F7D21E4C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84467E-71FD-43B5-4D5A-4155CDFC5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7169BE-FECA-57D7-4586-1923250CB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0E437-1074-4398-A326-797208557BA9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CF92A4-E33E-E678-E463-181317773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E3791D-DE88-358B-6929-470C786A1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7C8A-B735-4AC8-862F-3EFA706EA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104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B65B63-F836-8EB0-8CC8-4F3E6537EF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397B32-47DC-7E3A-A7C9-1409FF590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9D1DAC-A03B-AE42-2120-1E82DB86C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0E437-1074-4398-A326-797208557BA9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7256D8-313F-DEEC-9547-F4E1CC860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851354-43B4-D362-149A-0DD79ADAC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7C8A-B735-4AC8-862F-3EFA706EA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287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59D1C45-36FE-91B8-FE40-2D9CC1A7A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3BB342-5A90-A8CD-58F1-992047B5C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52D67E-B859-A683-B477-D36B16786A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0E437-1074-4398-A326-797208557BA9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90ECE8-2E4B-76B5-D81A-CD52C8181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7815DF-7B3A-F70D-3F1A-1944FC1A0E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17C8A-B735-4AC8-862F-3EFA706EA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721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868F51-18F8-73F7-4025-E9B7AA105B43}"/>
              </a:ext>
            </a:extLst>
          </p:cNvPr>
          <p:cNvSpPr txBox="1"/>
          <p:nvPr/>
        </p:nvSpPr>
        <p:spPr>
          <a:xfrm>
            <a:off x="399341" y="3429000"/>
            <a:ext cx="1191064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은행 장부에 수출액 얼마를 숫자로 바꾸고 그래서 이번 달에 이 회사가 무역을 한 번이라도 했냐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?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는 질문에 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O(1), X(0)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로 채점표를 만드는 과정</a:t>
            </a:r>
          </a:p>
          <a:p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문자형으로 저장된 수출입 실적 금액을 숫자형으로 변환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외환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_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수출실적금액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] [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외환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_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수입실적금액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] </a:t>
            </a:r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결측치를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0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으로 처리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-&gt;[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당월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_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외환실적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더미컬럼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 생성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금액이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0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보다 크거나 거래 건수가 존재하는 경우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True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로 판별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해당 월에 외환 거래가 하나라도 있으면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1</a:t>
            </a:r>
          </a:p>
          <a:p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해당 월에 외환 거래가 없으면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0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108E12C-6C39-604A-7677-A737DC9DF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41" y="451911"/>
            <a:ext cx="11402136" cy="263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18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24E30-08F8-9B34-ED47-804DFD867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6F7A074-AEA9-A588-24FD-C0E0A0166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634" y="226706"/>
            <a:ext cx="10382731" cy="37258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4D6C62-3665-CD40-E426-8B97286F1E1A}"/>
              </a:ext>
            </a:extLst>
          </p:cNvPr>
          <p:cNvSpPr txBox="1"/>
          <p:nvPr/>
        </p:nvSpPr>
        <p:spPr>
          <a:xfrm>
            <a:off x="472082" y="4110604"/>
            <a:ext cx="11719918" cy="252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2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년 전에 딱 한 번 수출해 놓고 지금은 내수만 하는 가짜 수출기업을 걸러내는 코드</a:t>
            </a:r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과거 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1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년치 기록을 훑어가며 최근 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1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년 안에 무역을 한 번이라도 했는지 따져 기업 명단을 뽑음</a:t>
            </a:r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기준년월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을 실제 시간 객체로 변환하여 인덱스로 설정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Goupby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와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rolling(‘365D’)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를 결합하여 당월을 제외한 직전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365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일 내에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당월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_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외환실적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의 최댓값이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1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인 법인만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과거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1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년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_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외환실적보유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] 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컬럼에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1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로 표기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이 값이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1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인 기업들만 최종 처치군으로 확정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en-US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exposed_firms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endParaRPr lang="ko-KR" altLang="en-US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BAB37F3-F42F-FFCC-A223-062E5EF93E0A}"/>
              </a:ext>
            </a:extLst>
          </p:cNvPr>
          <p:cNvSpPr/>
          <p:nvPr/>
        </p:nvSpPr>
        <p:spPr>
          <a:xfrm>
            <a:off x="7211960" y="5932841"/>
            <a:ext cx="4837472" cy="801689"/>
          </a:xfrm>
          <a:prstGeom prst="round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주의 </a:t>
            </a:r>
            <a:r>
              <a:rPr lang="en-US" altLang="ko-KR" b="1" dirty="0"/>
              <a:t>: </a:t>
            </a:r>
            <a:r>
              <a:rPr lang="ko-KR" altLang="en-US" b="1" dirty="0"/>
              <a:t>데이터의 초기시점</a:t>
            </a:r>
            <a:r>
              <a:rPr lang="en-US" altLang="ko-KR" b="1" dirty="0"/>
              <a:t>(202301)</a:t>
            </a:r>
            <a:r>
              <a:rPr lang="ko-KR" altLang="en-US" b="1" dirty="0"/>
              <a:t>에는 과거 </a:t>
            </a:r>
            <a:r>
              <a:rPr lang="en-US" altLang="ko-KR" b="1" dirty="0"/>
              <a:t>1</a:t>
            </a:r>
            <a:r>
              <a:rPr lang="ko-KR" altLang="en-US" b="1" dirty="0"/>
              <a:t>년치 누적 데이터가 없어서 필터링이 불안정할 수 있음</a:t>
            </a:r>
          </a:p>
        </p:txBody>
      </p:sp>
    </p:spTree>
    <p:extLst>
      <p:ext uri="{BB962C8B-B14F-4D97-AF65-F5344CB8AC3E}">
        <p14:creationId xmlns:p14="http://schemas.microsoft.com/office/powerpoint/2010/main" val="2337348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7FED4-16B9-8B42-7A84-628129A5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CB1013E-151B-AE82-B1FF-FAC623DF1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634" y="226706"/>
            <a:ext cx="10382731" cy="3725861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19A16F9-6815-41F7-1759-C74F843DE542}"/>
              </a:ext>
            </a:extLst>
          </p:cNvPr>
          <p:cNvSpPr/>
          <p:nvPr/>
        </p:nvSpPr>
        <p:spPr>
          <a:xfrm>
            <a:off x="643520" y="4225961"/>
            <a:ext cx="10969360" cy="801689"/>
          </a:xfrm>
          <a:prstGeom prst="round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주의 </a:t>
            </a:r>
            <a:r>
              <a:rPr lang="en-US" altLang="ko-KR" b="1" dirty="0"/>
              <a:t>: </a:t>
            </a:r>
            <a:r>
              <a:rPr lang="ko-KR" altLang="en-US" b="1" dirty="0"/>
              <a:t>데이터의 초기시점</a:t>
            </a:r>
            <a:r>
              <a:rPr lang="en-US" altLang="ko-KR" b="1" dirty="0"/>
              <a:t>(202301)</a:t>
            </a:r>
            <a:r>
              <a:rPr lang="ko-KR" altLang="en-US" b="1" dirty="0"/>
              <a:t>에는 과거 </a:t>
            </a:r>
            <a:r>
              <a:rPr lang="en-US" altLang="ko-KR" b="1" dirty="0"/>
              <a:t>1</a:t>
            </a:r>
            <a:r>
              <a:rPr lang="ko-KR" altLang="en-US" b="1" dirty="0"/>
              <a:t>년치 누적 데이터가 없어서 필터링이 불안정할 수 있음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43FD21-0BC5-5408-368A-F8EBF5A96951}"/>
              </a:ext>
            </a:extLst>
          </p:cNvPr>
          <p:cNvSpPr txBox="1"/>
          <p:nvPr/>
        </p:nvSpPr>
        <p:spPr>
          <a:xfrm>
            <a:off x="0" y="5301044"/>
            <a:ext cx="12191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2023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년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첫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달은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필터링되어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 무조건 </a:t>
            </a:r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날라감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algn="ctr"/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algn="ctr"/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-&gt; 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이 회사가 진짜 수출 기업인지 판별하기 위한 예열기간으로 소모</a:t>
            </a:r>
          </a:p>
        </p:txBody>
      </p:sp>
    </p:spTree>
    <p:extLst>
      <p:ext uri="{BB962C8B-B14F-4D97-AF65-F5344CB8AC3E}">
        <p14:creationId xmlns:p14="http://schemas.microsoft.com/office/powerpoint/2010/main" val="3416550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6ED60-5845-CE38-44B7-86019D1AF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6A979DE-3199-D50F-263C-AB955E022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26" y="239622"/>
            <a:ext cx="11239348" cy="20879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37914A-C6F6-8623-79CA-8384E46C5A0F}"/>
              </a:ext>
            </a:extLst>
          </p:cNvPr>
          <p:cNvSpPr txBox="1"/>
          <p:nvPr/>
        </p:nvSpPr>
        <p:spPr>
          <a:xfrm>
            <a:off x="476326" y="2828835"/>
            <a:ext cx="112393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충격 데이터 생성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개별 기업의 은행 장부와 거시 경제 상황을 하나로 합치기 위한 </a:t>
            </a:r>
            <a:r>
              <a:rPr lang="ko-KR" altLang="en-US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밑작업</a:t>
            </a:r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en-US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df_customes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의 연월 컬럼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(</a:t>
            </a:r>
            <a:r>
              <a:rPr lang="en-US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ym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)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을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문자열로 변환하여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기준년월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로 맞춤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독립변수 전년 동기 대비 수출액 증감률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en-US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yoy_exp_amt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과 </a:t>
            </a:r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병합용키인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 지역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, 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연월만 추출해 독립된 충격 데이터프레임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en-US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df_shock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을 만드는 작업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이후 대구은행 데이터와 원활하게 조인하기 위해 지역 컬럼 이름을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사업장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_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시도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로 바꾸고 회귀분석을 하기 위해서는 충격 변수에 </a:t>
            </a:r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결측치가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 있으면 안되니까 </a:t>
            </a:r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결측치가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 있는 행을 제거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1A05BDC-E75E-356D-3B17-84A60307A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26" y="4860160"/>
            <a:ext cx="1282533" cy="1795546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D1B77F6-8A90-4617-4542-676221E19E19}"/>
              </a:ext>
            </a:extLst>
          </p:cNvPr>
          <p:cNvSpPr/>
          <p:nvPr/>
        </p:nvSpPr>
        <p:spPr>
          <a:xfrm>
            <a:off x="2254948" y="5114694"/>
            <a:ext cx="9460725" cy="1254022"/>
          </a:xfrm>
          <a:prstGeom prst="round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2022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 데이터만 버려져서 </a:t>
            </a:r>
            <a:r>
              <a:rPr lang="ko-KR" altLang="en-US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결측치가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 있는 행을 제거해도 무관함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.</a:t>
            </a:r>
            <a:endParaRPr lang="ko-KR" altLang="en-US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3806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2D72F-C3DF-A902-03C6-5BF07FE65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717B949-7317-1163-896D-615BFD694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01" y="307317"/>
            <a:ext cx="11721198" cy="31216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71FE64-1ACC-ECBC-F921-496FD15BD2F2}"/>
              </a:ext>
            </a:extLst>
          </p:cNvPr>
          <p:cNvSpPr txBox="1"/>
          <p:nvPr/>
        </p:nvSpPr>
        <p:spPr>
          <a:xfrm>
            <a:off x="235400" y="3657601"/>
            <a:ext cx="115638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데이터가 중간중간 빠져 있다고 해서 냅다 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0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원으로 채워버리면 멀쩡히 돈이 있던 회사가 갑자기 돈이 </a:t>
            </a:r>
            <a:r>
              <a:rPr lang="ko-KR" altLang="en-US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없는것처럼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 데이터가 왜곡됨</a:t>
            </a:r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그래서 아예 캘린더 전체를 새로 깔아놓고 관측 안 된 달은 </a:t>
            </a:r>
            <a:r>
              <a:rPr lang="ko-KR" altLang="en-US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결측치로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 놔둠</a:t>
            </a:r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처치군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 법인 목록과 전체 연월 목록을 데카르트 곱하여 관측 누락이 없는 패널 뼈대를 만듦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여기에 지역별 수출 충격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, 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업종 정보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, 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예금 잔액을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Left join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으로 병합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결측치는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NaN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으로 둔 상태에서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np.log1p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를 씌움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2680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7A878-5519-B262-9459-B994C6FB0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2AE9A4-F860-FA9D-09D6-93B2D3C477F7}"/>
              </a:ext>
            </a:extLst>
          </p:cNvPr>
          <p:cNvSpPr txBox="1"/>
          <p:nvPr/>
        </p:nvSpPr>
        <p:spPr>
          <a:xfrm>
            <a:off x="251250" y="3059724"/>
            <a:ext cx="115638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거치식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,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 적립식을 완전히 나눠서 분석</a:t>
            </a:r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원본 잔액을 기준으로 해당 법인의 전체 분석 기간 내 예금 최댓값이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0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을 초과하는 검사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한 번이라도 계좌를 보유한 법인 리스트를 거치식과 적립식으로 각각 추출하여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en-US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df_time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], [</a:t>
            </a:r>
            <a:r>
              <a:rPr lang="en-US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df_install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이라는 독립된 데이터 프레임으로 저장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BA145C5-61EB-1210-5C27-26A2152AB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50" y="124747"/>
            <a:ext cx="8926185" cy="279419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6EFDAF6-8BD9-E8A0-0ED9-709BD8F45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50" y="4677839"/>
            <a:ext cx="7323455" cy="13869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08F725-9DE7-E07C-E10E-40AB4A0D76DD}"/>
              </a:ext>
            </a:extLst>
          </p:cNvPr>
          <p:cNvSpPr txBox="1"/>
          <p:nvPr/>
        </p:nvSpPr>
        <p:spPr>
          <a:xfrm>
            <a:off x="314061" y="6205586"/>
            <a:ext cx="1156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패널 회귀분석 라이브러리가 인식할 수 있는 구조로 변환</a:t>
            </a:r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6617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3A25A-7BA4-5D99-8F88-1D3F36AB0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E9ADD8F-3D6A-D668-2415-D0B676115C2B}"/>
              </a:ext>
            </a:extLst>
          </p:cNvPr>
          <p:cNvSpPr txBox="1"/>
          <p:nvPr/>
        </p:nvSpPr>
        <p:spPr>
          <a:xfrm>
            <a:off x="392723" y="4833152"/>
            <a:ext cx="110079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국소투영법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수출 충격이 터지고 나서 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1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달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/3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달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/12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달 뒤에 통장 잔고가 어떻게 변하는지 추적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(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수출이 오를 때와 꺾일 때 예금을 빼는 속도가 어떻게 </a:t>
            </a:r>
            <a:r>
              <a:rPr lang="ko-KR" altLang="en-US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다른지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 찾아냄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)</a:t>
            </a:r>
          </a:p>
          <a:p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현재 달 대비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h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개월 후의 예금 </a:t>
            </a:r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변동량을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 매 시점마다 새로 구하여 종속변수로 삼음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하락 국면 더미와 수출 충격을 곱한 교호작용 변수를 넣고 </a:t>
            </a:r>
            <a:r>
              <a:rPr lang="en-US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PanelOLS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를 통해 법인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/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시간 고정효과를 통제하고 자유도 부족으로 </a:t>
            </a:r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에러날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 경우 </a:t>
            </a:r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스킵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DFB59A-8E5A-81F5-E642-40D6AF67B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23" y="472184"/>
            <a:ext cx="6043246" cy="414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481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29A06-70DB-1A99-F044-808C4D9CF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E7AEDE-1877-6159-CA5F-B65831073D34}"/>
              </a:ext>
            </a:extLst>
          </p:cNvPr>
          <p:cNvSpPr txBox="1"/>
          <p:nvPr/>
        </p:nvSpPr>
        <p:spPr>
          <a:xfrm>
            <a:off x="392723" y="4833152"/>
            <a:ext cx="110079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전체 평균으로 </a:t>
            </a:r>
            <a:r>
              <a:rPr lang="ko-KR" altLang="en-US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퉁치면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 값 상쇄돼서 </a:t>
            </a:r>
            <a:r>
              <a:rPr lang="ko-KR" altLang="en-US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아무일도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 없는 것처럼 보이니까 따로따로</a:t>
            </a:r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지정된 상위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10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개 업종을 순회하면서 만든 데이터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[</a:t>
            </a:r>
            <a:r>
              <a:rPr lang="en-US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df_time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],[</a:t>
            </a:r>
            <a:r>
              <a:rPr lang="en-US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df_install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]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를 필터링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해당 업종의 고유 법인 수가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5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개 이상일 경우에만 결과를 뽑아내고 주요시점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(h=3,6,12)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의 계수와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p-value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를 표 형태로 묶어서 저장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5F4C6D7-6726-43FD-8314-AC1316714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24" y="411238"/>
            <a:ext cx="6633408" cy="3896994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DD94A84-0645-0687-190E-1EB79C72B167}"/>
              </a:ext>
            </a:extLst>
          </p:cNvPr>
          <p:cNvSpPr/>
          <p:nvPr/>
        </p:nvSpPr>
        <p:spPr>
          <a:xfrm>
            <a:off x="7384474" y="479379"/>
            <a:ext cx="4206509" cy="3760712"/>
          </a:xfrm>
          <a:prstGeom prst="round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법인 수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 5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개라는 매우 낮은 컷오프 사용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-&gt; 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법인이 적은 업종의 결과와 시각화 궤적은 신뢰하기 어려운 통계적 노이즈일 확률이 큼</a:t>
            </a:r>
          </a:p>
        </p:txBody>
      </p:sp>
    </p:spTree>
    <p:extLst>
      <p:ext uri="{BB962C8B-B14F-4D97-AF65-F5344CB8AC3E}">
        <p14:creationId xmlns:p14="http://schemas.microsoft.com/office/powerpoint/2010/main" val="2024157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FB349-183F-574F-5525-14504C97B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7EA0E87-24F8-1008-E271-BFE24D911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16" y="371991"/>
            <a:ext cx="8558368" cy="42250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AB3783-C5F9-2A0D-2D69-C20FAE4D9982}"/>
              </a:ext>
            </a:extLst>
          </p:cNvPr>
          <p:cNvSpPr txBox="1"/>
          <p:nvPr/>
        </p:nvSpPr>
        <p:spPr>
          <a:xfrm>
            <a:off x="258984" y="4316184"/>
            <a:ext cx="9083232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ko-KR" altLang="ko-KR" b="1" dirty="0">
                <a:solidFill>
                  <a:schemeClr val="accent1">
                    <a:lumMod val="7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자금 소진형 (기타 기계 및 장비 제조업)</a:t>
            </a:r>
            <a:endParaRPr lang="ko-KR" altLang="ko-KR" dirty="0">
              <a:solidFill>
                <a:schemeClr val="accent1">
                  <a:lumMod val="75000"/>
                </a:schemeClr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궤적 특징:</a:t>
            </a: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충격 발생 후 시일이 지날수록 반응 크기가 지속적으로 </a:t>
            </a:r>
            <a:r>
              <a:rPr lang="ko-KR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우하향</a:t>
            </a: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위험 임계점:</a:t>
            </a: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8개월(</a:t>
            </a:r>
            <a:r>
              <a:rPr lang="ko-KR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h</a:t>
            </a: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=8) 이후 95% 신뢰구간이 0선 아래로 완전히 안착 (강한 통계적 유의성).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경제적 의미:</a:t>
            </a: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수출 충격 장기화 시 기업이 결국 버티지 못하고 목돈(</a:t>
            </a:r>
            <a:r>
              <a:rPr lang="ko-KR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거치식</a:t>
            </a: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예금)을 대거 헐어 쓰는 '실질적 유동성 타격' 및 부실화 전조</a:t>
            </a:r>
            <a:r>
              <a:rPr lang="ko-KR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0073B90-7523-6F58-14EB-ABAB4E7AB2D9}"/>
              </a:ext>
            </a:extLst>
          </p:cNvPr>
          <p:cNvSpPr/>
          <p:nvPr/>
        </p:nvSpPr>
        <p:spPr>
          <a:xfrm>
            <a:off x="9342216" y="421718"/>
            <a:ext cx="2409922" cy="3894466"/>
          </a:xfrm>
          <a:prstGeom prst="round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표본 수가 적지만 해당 업종의 위기 반응이 뚜렷하고 강력함</a:t>
            </a:r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algn="ctr"/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algn="ctr"/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21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개 기업들의 입출금 행태가 중구난방 흩어진 우연이 아닌 자금 소진 시그널이 극도로 일관됨을 알 수 있음</a:t>
            </a:r>
          </a:p>
        </p:txBody>
      </p:sp>
    </p:spTree>
    <p:extLst>
      <p:ext uri="{BB962C8B-B14F-4D97-AF65-F5344CB8AC3E}">
        <p14:creationId xmlns:p14="http://schemas.microsoft.com/office/powerpoint/2010/main" val="2757050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1A5C420-A3A2-2C97-D5D3-1790CCF4F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85" y="322840"/>
            <a:ext cx="8989695" cy="44379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269AF2-9C67-DB25-6EB6-0D5FFC9630F0}"/>
              </a:ext>
            </a:extLst>
          </p:cNvPr>
          <p:cNvSpPr txBox="1"/>
          <p:nvPr/>
        </p:nvSpPr>
        <p:spPr>
          <a:xfrm>
            <a:off x="579024" y="4316184"/>
            <a:ext cx="11399617" cy="2391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ko-KR" altLang="ko-KR" b="1" dirty="0">
                <a:solidFill>
                  <a:schemeClr val="accent1">
                    <a:lumMod val="7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자금 소진형 (기타 기계 및 장비 제조업)</a:t>
            </a:r>
            <a:endParaRPr lang="ko-KR" altLang="ko-KR" dirty="0">
              <a:solidFill>
                <a:schemeClr val="accent1">
                  <a:lumMod val="75000"/>
                </a:schemeClr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궤적 특징:</a:t>
            </a: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ko-KR" dirty="0"/>
              <a:t>4개월(</a:t>
            </a:r>
            <a:r>
              <a:rPr lang="ko-KR" altLang="ko-KR" dirty="0" err="1"/>
              <a:t>h</a:t>
            </a:r>
            <a:r>
              <a:rPr lang="ko-KR" altLang="ko-KR" dirty="0"/>
              <a:t>=4) 시점부터 추정 계수가 지속적으로 0선 아래로 하락하는 패턴.</a:t>
            </a:r>
            <a:endParaRPr lang="en-US" altLang="ko-KR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위험 임계점:</a:t>
            </a: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ko-KR" dirty="0"/>
              <a:t>4개월(</a:t>
            </a:r>
            <a:r>
              <a:rPr lang="ko-KR" altLang="ko-KR" dirty="0" err="1"/>
              <a:t>h</a:t>
            </a:r>
            <a:r>
              <a:rPr lang="ko-KR" altLang="ko-KR" dirty="0"/>
              <a:t>=4) 이후 의무 납입 중단 및 해지 등 뚜렷한 자금 이탈 이력 발생.</a:t>
            </a:r>
            <a:endParaRPr lang="ko-KR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경제적 의미</a:t>
            </a:r>
            <a:r>
              <a:rPr lang="en-US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ko-KR" dirty="0"/>
              <a:t>매월 부어야 하는 적립식마저 멈출 정도로 해당 업종의 자금 압박이 실재함을 증명하는 강력한 행동 신호(</a:t>
            </a:r>
            <a:r>
              <a:rPr lang="ko-KR" altLang="ko-KR" dirty="0" err="1"/>
              <a:t>Distress</a:t>
            </a:r>
            <a:r>
              <a:rPr lang="ko-KR" altLang="ko-KR" dirty="0"/>
              <a:t> </a:t>
            </a:r>
            <a:r>
              <a:rPr lang="ko-KR" altLang="ko-KR" dirty="0" err="1"/>
              <a:t>Signal</a:t>
            </a:r>
            <a:r>
              <a:rPr lang="ko-KR" altLang="ko-KR" dirty="0"/>
              <a:t>).</a:t>
            </a:r>
            <a:endParaRPr lang="ko-KR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21C243C-CA14-1257-C9B6-546E64A2B1D9}"/>
              </a:ext>
            </a:extLst>
          </p:cNvPr>
          <p:cNvSpPr/>
          <p:nvPr/>
        </p:nvSpPr>
        <p:spPr>
          <a:xfrm>
            <a:off x="9447299" y="394038"/>
            <a:ext cx="2409922" cy="4589442"/>
          </a:xfrm>
          <a:prstGeom prst="round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7~8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월은 표본이 작아 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1~2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개의 기업이 자금 융통에 성공하면 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0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선으로 </a:t>
            </a:r>
            <a:r>
              <a:rPr lang="ko-KR" altLang="en-US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튀어오를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 수 있음 이는 일시적 노이즈로 볼 수 있음</a:t>
            </a:r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algn="ctr"/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음영의 하단이 깊다는 것은 여전히 적립식을 깨거나 납입을 중단하는 자금 이탈을 겪는 기업이 상당수 존재한다는 것을 보여줌</a:t>
            </a:r>
          </a:p>
        </p:txBody>
      </p:sp>
    </p:spTree>
    <p:extLst>
      <p:ext uri="{BB962C8B-B14F-4D97-AF65-F5344CB8AC3E}">
        <p14:creationId xmlns:p14="http://schemas.microsoft.com/office/powerpoint/2010/main" val="1891716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2400347-92BD-A062-7289-27D6C1E20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59544" cy="35344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D9085C0-7E0B-4301-9295-63921DFA5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3541"/>
            <a:ext cx="7159544" cy="35344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8AF8CF-9D8E-5495-848C-AF6CF30DD53A}"/>
              </a:ext>
            </a:extLst>
          </p:cNvPr>
          <p:cNvSpPr txBox="1"/>
          <p:nvPr/>
        </p:nvSpPr>
        <p:spPr>
          <a:xfrm>
            <a:off x="7238047" y="915029"/>
            <a:ext cx="4861560" cy="4817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거치식의 강한 </a:t>
            </a:r>
            <a:r>
              <a:rPr lang="ko-KR" altLang="en-US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우하향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 궤적이 적립식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(h=4 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이후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)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에서도 동일하게 나타남</a:t>
            </a:r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>
              <a:lnSpc>
                <a:spcPct val="250000"/>
              </a:lnSpc>
            </a:pPr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>
              <a:lnSpc>
                <a:spcPct val="250000"/>
              </a:lnSpc>
            </a:pPr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>
              <a:lnSpc>
                <a:spcPct val="250000"/>
              </a:lnSpc>
            </a:pPr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>
              <a:lnSpc>
                <a:spcPct val="250000"/>
              </a:lnSpc>
            </a:pP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매월 납입해야 하는 적립식마저 멈추고 깰 정도의 실질적 유동성 압박임을 증명</a:t>
            </a:r>
          </a:p>
        </p:txBody>
      </p:sp>
    </p:spTree>
    <p:extLst>
      <p:ext uri="{BB962C8B-B14F-4D97-AF65-F5344CB8AC3E}">
        <p14:creationId xmlns:p14="http://schemas.microsoft.com/office/powerpoint/2010/main" val="1821615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8C006-BDB6-8BD2-3E08-1549B845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7FDF65-1727-5322-B3AD-A9800D355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564" y="308834"/>
            <a:ext cx="9383592" cy="46324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624874-E07D-19C4-C08F-590CE73BAADE}"/>
              </a:ext>
            </a:extLst>
          </p:cNvPr>
          <p:cNvSpPr txBox="1"/>
          <p:nvPr/>
        </p:nvSpPr>
        <p:spPr>
          <a:xfrm>
            <a:off x="1057508" y="4366780"/>
            <a:ext cx="10076983" cy="238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ko-KR" altLang="ko-KR" b="1" dirty="0">
                <a:solidFill>
                  <a:schemeClr val="accent1">
                    <a:lumMod val="7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자금 방어형 (도매 및 상품 중개업)</a:t>
            </a:r>
            <a:endParaRPr lang="ko-KR" altLang="ko-KR" dirty="0">
              <a:solidFill>
                <a:schemeClr val="accent1">
                  <a:lumMod val="75000"/>
                </a:schemeClr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궤적 특징:</a:t>
            </a: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충격 발생에도 불구하고 오히려 추정 계수가 점진적으로 상승.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반응 정점:</a:t>
            </a: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9개월(</a:t>
            </a:r>
            <a:r>
              <a:rPr lang="ko-KR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h</a:t>
            </a: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=9) 차 부근에서 양(+)의 반응 최대치 도달.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경제적 의미:</a:t>
            </a: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위기 국면 진입 시 신규 투자를 축소하고 기존 예금을 깨지 않고 유지하는 전형적인 '현금 확보 및 방어적 행태'.</a:t>
            </a:r>
          </a:p>
        </p:txBody>
      </p:sp>
    </p:spTree>
    <p:extLst>
      <p:ext uri="{BB962C8B-B14F-4D97-AF65-F5344CB8AC3E}">
        <p14:creationId xmlns:p14="http://schemas.microsoft.com/office/powerpoint/2010/main" val="2840862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A6EF025-2FCF-42DB-22C0-9ED9E6B95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412" y="352425"/>
            <a:ext cx="9401175" cy="46410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D53A0C-A2BF-C907-D540-C5038C47AEC6}"/>
              </a:ext>
            </a:extLst>
          </p:cNvPr>
          <p:cNvSpPr txBox="1"/>
          <p:nvPr/>
        </p:nvSpPr>
        <p:spPr>
          <a:xfrm>
            <a:off x="1554384" y="4316184"/>
            <a:ext cx="9083232" cy="2391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ko-KR" altLang="ko-KR" b="1" dirty="0">
                <a:solidFill>
                  <a:schemeClr val="accent1">
                    <a:lumMod val="7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자금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방어형</a:t>
            </a:r>
            <a:r>
              <a:rPr lang="ko-KR" altLang="ko-KR" b="1" dirty="0">
                <a:solidFill>
                  <a:schemeClr val="accent1">
                    <a:lumMod val="7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도매 및 상품 중개업</a:t>
            </a:r>
            <a:r>
              <a:rPr lang="ko-KR" altLang="ko-KR" b="1" dirty="0">
                <a:solidFill>
                  <a:schemeClr val="accent1">
                    <a:lumMod val="7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ko-KR" dirty="0">
              <a:solidFill>
                <a:schemeClr val="accent1">
                  <a:lumMod val="75000"/>
                </a:schemeClr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궤적 특징:</a:t>
            </a: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ko-KR" dirty="0"/>
              <a:t>하락 국면임에도 추정 계수가 0선 위에서 양(+)의 궤적을 일관되게 유지.</a:t>
            </a:r>
            <a:endParaRPr lang="en-US" altLang="ko-KR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굴림" panose="020B0600000101010101" pitchFamily="50" charset="-127"/>
                <a:ea typeface="굴림" panose="020B0600000101010101" pitchFamily="50" charset="-127"/>
              </a:rPr>
              <a:t>방어</a:t>
            </a:r>
            <a:r>
              <a:rPr lang="ko-KR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 임계점:</a:t>
            </a: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ko-KR" dirty="0"/>
              <a:t>: 뚜렷한 위기 시점 없이 전 구간에 걸쳐 안정적인 플러스 반응 형성.</a:t>
            </a:r>
            <a:endParaRPr lang="ko-KR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경제적 의미:</a:t>
            </a: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ko-KR" dirty="0"/>
              <a:t>위기 상황에서도 적립식 납입을 멈추지 않고, 오히려 유동성을 지속 축적(방어)하는 특유의 안정적 재무 운용 패턴 확인.</a:t>
            </a:r>
            <a:endParaRPr lang="ko-KR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6878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85827E2-C3AB-F20E-F0F5-5E24B2D6B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46460" cy="357736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E1D40BE-EC11-AB8A-1846-599EA3B41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280634"/>
            <a:ext cx="7246460" cy="35773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D7E723-7F6A-4E26-88F2-3595F494F054}"/>
              </a:ext>
            </a:extLst>
          </p:cNvPr>
          <p:cNvSpPr txBox="1"/>
          <p:nvPr/>
        </p:nvSpPr>
        <p:spPr>
          <a:xfrm>
            <a:off x="7461435" y="670560"/>
            <a:ext cx="4562925" cy="518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ko-KR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기계 제조업 같은 '</a:t>
            </a:r>
            <a:r>
              <a:rPr lang="ko-KR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제조업'은</a:t>
            </a:r>
            <a:r>
              <a:rPr lang="ko-KR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 공장을 돌리기 위해 고정비가 계속 나가므로 위기 시 예금을 헐어 써야 하지만 '도매/</a:t>
            </a:r>
            <a:r>
              <a:rPr lang="ko-KR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중개업'은</a:t>
            </a:r>
            <a:r>
              <a:rPr lang="ko-KR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 수출 충격이 오면 신규 물품 매입이나 확장을 즉각 중단하고 기존에 보유한 현금을 꽉 쥐고 방어하는(</a:t>
            </a:r>
            <a:r>
              <a:rPr lang="ko-KR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Cash</a:t>
            </a:r>
            <a:r>
              <a:rPr lang="ko-KR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Hoarding</a:t>
            </a:r>
            <a:r>
              <a:rPr lang="ko-KR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) 유연한 재무 전략을 취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함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>
              <a:lnSpc>
                <a:spcPct val="300000"/>
              </a:lnSpc>
            </a:pP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>
              <a:lnSpc>
                <a:spcPct val="300000"/>
              </a:lnSpc>
            </a:pP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도매 및 상품 중개업은 유의미한 자금 이탈이 전혀 관측되지 않음</a:t>
            </a:r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>
              <a:lnSpc>
                <a:spcPct val="300000"/>
              </a:lnSpc>
            </a:pP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모니터링 타겟에서 가장 후순위로 분류</a:t>
            </a:r>
          </a:p>
        </p:txBody>
      </p:sp>
    </p:spTree>
    <p:extLst>
      <p:ext uri="{BB962C8B-B14F-4D97-AF65-F5344CB8AC3E}">
        <p14:creationId xmlns:p14="http://schemas.microsoft.com/office/powerpoint/2010/main" val="1786474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74F9944-3111-E5B4-0BAF-7B3B4AF7B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8391"/>
            <a:ext cx="8928541" cy="44077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0F2439-B5C6-5177-A63D-3C741C655995}"/>
              </a:ext>
            </a:extLst>
          </p:cNvPr>
          <p:cNvSpPr txBox="1"/>
          <p:nvPr/>
        </p:nvSpPr>
        <p:spPr>
          <a:xfrm>
            <a:off x="979627" y="4621032"/>
            <a:ext cx="7948914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ko-KR" altLang="ko-KR" b="1" dirty="0">
                <a:solidFill>
                  <a:schemeClr val="accent1">
                    <a:lumMod val="7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구조적 무반응형 (1차 금속 제조업)</a:t>
            </a:r>
            <a:endParaRPr lang="ko-KR" altLang="ko-KR" dirty="0">
              <a:solidFill>
                <a:schemeClr val="accent1">
                  <a:lumMod val="75000"/>
                </a:schemeClr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궤적 특징:</a:t>
            </a: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충격 직후부터 7개월(</a:t>
            </a:r>
            <a:r>
              <a:rPr lang="ko-KR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h</a:t>
            </a: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=7)까지 추정 계수가 0선에 평행하게 밀착.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b="1" dirty="0">
                <a:latin typeface="굴림" panose="020B0600000101010101" pitchFamily="50" charset="-127"/>
                <a:ea typeface="굴림" panose="020B0600000101010101" pitchFamily="50" charset="-127"/>
              </a:rPr>
              <a:t>경제적 의미:</a:t>
            </a: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수요 소멸 시 생산 자체를 중단하여 운전자금 수요도 동반 소멸하는 '장치 산업의 구조적 </a:t>
            </a:r>
            <a:r>
              <a:rPr lang="ko-KR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특성'을</a:t>
            </a: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완벽히 대변.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177C6FE-FC2D-6051-50A1-1D4DA82F16CE}"/>
              </a:ext>
            </a:extLst>
          </p:cNvPr>
          <p:cNvSpPr/>
          <p:nvPr/>
        </p:nvSpPr>
        <p:spPr>
          <a:xfrm>
            <a:off x="9083041" y="421718"/>
            <a:ext cx="2895600" cy="5902882"/>
          </a:xfrm>
          <a:prstGeom prst="round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통계학에서 신뢰구간이 0을 포함하고 있다는 것은 "이 하락이 진짜 유의미한 예금 인출인지, 아니면 몇몇 기업의 우연한 변동(노이즈)인지 95% 확률로 확신할 수 없다(즉, 0과 다름없다)“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algn="ctr"/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algn="ctr"/>
            <a:r>
              <a:rPr lang="ko-KR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"어쩌다 몇몇 회사가 돈을 크게 빼서 전체 평균이 깎인 것처럼 보일 뿐, 업종 전체가 다 같이 돈을 뺐다고 확신할 수는 </a:t>
            </a:r>
            <a:r>
              <a:rPr lang="ko-KR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없다"는</a:t>
            </a:r>
            <a:r>
              <a:rPr lang="ko-KR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 뜻</a:t>
            </a:r>
            <a:endParaRPr lang="ko-KR" altLang="en-US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0120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9D58C3-7822-5601-6EFC-23D3DDA1F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984" y="321945"/>
            <a:ext cx="9004935" cy="44454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D8244B-1527-5F44-BA55-122937FD0A79}"/>
              </a:ext>
            </a:extLst>
          </p:cNvPr>
          <p:cNvSpPr txBox="1"/>
          <p:nvPr/>
        </p:nvSpPr>
        <p:spPr>
          <a:xfrm>
            <a:off x="1086306" y="4405680"/>
            <a:ext cx="10267493" cy="2391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ko-KR" altLang="ko-KR" b="1" dirty="0">
                <a:solidFill>
                  <a:schemeClr val="accent1">
                    <a:lumMod val="7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구조적 무반응형 (1차 금속 제조업)</a:t>
            </a:r>
            <a:endParaRPr lang="ko-KR" altLang="ko-KR" dirty="0">
              <a:solidFill>
                <a:schemeClr val="accent1">
                  <a:lumMod val="75000"/>
                </a:schemeClr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궤적 특징:</a:t>
            </a:r>
            <a:r>
              <a:rPr lang="ko-KR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 충격 </a:t>
            </a:r>
            <a:r>
              <a:rPr lang="ko-KR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초중반</a:t>
            </a:r>
            <a:r>
              <a:rPr lang="ko-KR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(</a:t>
            </a:r>
            <a:r>
              <a:rPr lang="ko-KR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h</a:t>
            </a:r>
            <a:r>
              <a:rPr lang="ko-KR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=0~5) 동안 추정 계수가 0선에 밀착하여 평행을 그림.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변동 임계점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ko-KR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5개월 차까지 유의미한 예금 반응(인출 및 납입 중단) </a:t>
            </a:r>
            <a:r>
              <a:rPr lang="ko-KR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미발생</a:t>
            </a:r>
            <a:r>
              <a:rPr lang="ko-KR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.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경제적 의미:</a:t>
            </a:r>
            <a:r>
              <a:rPr lang="ko-KR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ko-KR" dirty="0"/>
              <a:t>수요 소멸 시 조업 자체를 멈춰 예금(운전자금)을 건드릴 유인이 적은 장치 산업의 구조적 특성과 완벽한 정합성 확인.</a:t>
            </a:r>
            <a:endParaRPr lang="ko-KR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7517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E12A5A3-881D-39CD-D3EB-CBD02E298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7162018" cy="353568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EA86D3E-DB94-734D-7EC6-AF91B7D13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322320"/>
            <a:ext cx="7162018" cy="35356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D707AB-B0DB-A336-F1A8-C3C97663CCC7}"/>
              </a:ext>
            </a:extLst>
          </p:cNvPr>
          <p:cNvSpPr txBox="1"/>
          <p:nvPr/>
        </p:nvSpPr>
        <p:spPr>
          <a:xfrm>
            <a:off x="7162019" y="276166"/>
            <a:ext cx="5029980" cy="5913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1차 금속과 같은 무거운 '장치 </a:t>
            </a:r>
            <a:r>
              <a:rPr lang="ko-KR" altLang="ko-KR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산업'은</a:t>
            </a:r>
            <a:r>
              <a:rPr lang="ko-KR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 수출 수요가 꺾이면 공장 가동 자체를 멈춰버리는(조업 중단) 선택을 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함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>
              <a:lnSpc>
                <a:spcPct val="250000"/>
              </a:lnSpc>
            </a:pPr>
            <a:r>
              <a:rPr lang="ko-KR" altLang="en-US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거치식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 예금 반응은 신뢰구간이 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0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에 걸쳐 있어 통계적으로 유의미한 이탈로 볼 수 없고</a:t>
            </a:r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>
              <a:lnSpc>
                <a:spcPct val="250000"/>
              </a:lnSpc>
            </a:pPr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>
              <a:lnSpc>
                <a:spcPct val="250000"/>
              </a:lnSpc>
            </a:pP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적립식 예금은 평균선이 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0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선에 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5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월까지 완전 </a:t>
            </a:r>
            <a:r>
              <a:rPr lang="ko-KR" altLang="en-US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밀착해있고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12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개월 전 구간에 걸쳐 신뢰구간이 </a:t>
            </a:r>
            <a:r>
              <a:rPr lang="en-US" altLang="ko-KR" b="1" dirty="0">
                <a:latin typeface="굴림체" panose="020B0609000101010101" pitchFamily="49" charset="-127"/>
                <a:ea typeface="굴림체" panose="020B0609000101010101" pitchFamily="49" charset="-127"/>
              </a:rPr>
              <a:t>0</a:t>
            </a:r>
            <a:r>
              <a:rPr lang="ko-KR" altLang="en-US" b="1" dirty="0">
                <a:latin typeface="굴림체" panose="020B0609000101010101" pitchFamily="49" charset="-127"/>
                <a:ea typeface="굴림체" panose="020B0609000101010101" pitchFamily="49" charset="-127"/>
              </a:rPr>
              <a:t>선을 넓게 포함해 유의미한 적립금 납입 중단이나 해지가 없음으로 볼 수 있음</a:t>
            </a:r>
            <a:endParaRPr lang="en-US" altLang="ko-KR"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4784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E165430-059B-887A-6713-4D254116828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95582" y="192749"/>
            <a:ext cx="5756400" cy="27756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32ECEB8-1C43-748E-7EB8-C8CDD28F0A9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438"/>
            <a:ext cx="5756400" cy="27756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F3DEB47-5CA1-9759-2402-04BB55DCB33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240615" y="5971108"/>
            <a:ext cx="5756400" cy="27756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387CA80-6FE9-C5DE-9AAB-8416EC1A4F0D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95582" y="3156773"/>
            <a:ext cx="5756400" cy="27756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4B6CBCC-0F8D-DF9E-27E1-FA182BF82762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95582" y="5932373"/>
            <a:ext cx="5756400" cy="27756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27F436A-5954-BB56-C386-4E196C3C0E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0020" y="3156773"/>
            <a:ext cx="5757590" cy="277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343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D00DF39-5136-65F3-6737-3934D3231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0444" y="152400"/>
            <a:ext cx="6367096" cy="31432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D74D28C-6ED8-A3B0-8142-69FDB1A7A84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270444" y="3562350"/>
            <a:ext cx="6368400" cy="314389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677D597-4047-AA08-A679-AF961256EEE2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823600" y="137160"/>
            <a:ext cx="6368400" cy="31432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2136B75-CF81-CA5A-F5BA-28837EA1A9EA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823600" y="3562350"/>
            <a:ext cx="6368400" cy="31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227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7723C3-5EB9-98DF-FE97-1B792A1EE3F5}"/>
              </a:ext>
            </a:extLst>
          </p:cNvPr>
          <p:cNvSpPr txBox="1"/>
          <p:nvPr/>
        </p:nvSpPr>
        <p:spPr>
          <a:xfrm>
            <a:off x="512187" y="749035"/>
            <a:ext cx="11167626" cy="5359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1" dirty="0">
                <a:solidFill>
                  <a:schemeClr val="accent1">
                    <a:lumMod val="7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법인 수가 20개 미만인 나머지 </a:t>
            </a:r>
            <a:r>
              <a:rPr lang="ko-KR" altLang="ko-KR" b="1" dirty="0" err="1">
                <a:solidFill>
                  <a:schemeClr val="accent1">
                    <a:lumMod val="7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소표본</a:t>
            </a:r>
            <a:r>
              <a:rPr lang="ko-KR" altLang="ko-KR" b="1" dirty="0">
                <a:solidFill>
                  <a:schemeClr val="accent1">
                    <a:lumMod val="75000"/>
                  </a:schemeClr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업종들은 해석 시 배제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섬유제품, 자동차, 화학물질, 금속가공, 식료품 업종은 신뢰구간이 0선을 무의미하게 교차하며 궤적이 요동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침</a:t>
            </a: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특히 법인 수가 6개에 불과한 전자부품 제조업은 후반부에 급격한 상승 궤적을 보이나 신뢰구간이 지나치게 넓게 퍼져 있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음</a:t>
            </a: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이는 극소수 기업의 개별 입출금 내역이 전체 추세를 왜곡하는 통계적 노이즈이므로, 보고서 작성 시에는 표본이 충분히 확보된 도매업, 기계 제조업, 1차 금속 제조업의 3가지 대조되는 그래프만을 핵심 근거로 </a:t>
            </a:r>
            <a:r>
              <a:rPr lang="ko-KR" altLang="ko-KR" dirty="0" err="1">
                <a:latin typeface="굴림" panose="020B0600000101010101" pitchFamily="50" charset="-127"/>
                <a:ea typeface="굴림" panose="020B0600000101010101" pitchFamily="50" charset="-127"/>
              </a:rPr>
              <a:t>활용해야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함</a:t>
            </a:r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5441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2DF1D4-3D17-4738-F76D-5FAE21BAE5BF}"/>
              </a:ext>
            </a:extLst>
          </p:cNvPr>
          <p:cNvSpPr txBox="1"/>
          <p:nvPr/>
        </p:nvSpPr>
        <p:spPr>
          <a:xfrm>
            <a:off x="85545" y="121920"/>
            <a:ext cx="450315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500" b="1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거치식</a:t>
            </a:r>
            <a:r>
              <a:rPr lang="ko-KR" altLang="en-US" sz="2500" b="1" dirty="0">
                <a:latin typeface="굴림체" panose="020B0609000101010101" pitchFamily="49" charset="-127"/>
                <a:ea typeface="굴림체" panose="020B0609000101010101" pitchFamily="49" charset="-127"/>
              </a:rPr>
              <a:t> 만기와 압박해지 구분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2AAF8-5B36-2796-A48F-59DDB6EECF6F}"/>
              </a:ext>
            </a:extLst>
          </p:cNvPr>
          <p:cNvSpPr txBox="1"/>
          <p:nvPr/>
        </p:nvSpPr>
        <p:spPr>
          <a:xfrm>
            <a:off x="0" y="676483"/>
            <a:ext cx="12192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법인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FE: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모든 기업은 저마다의 자금 운용 스케줄이 있음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A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기업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업종 특성상 매년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3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월마다 원자재 대금을 치르느라 </a:t>
            </a:r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거치식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 예금 만기가 집중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(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고유한 리듬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B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기업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매년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11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월에 만기가 돌아옴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법인 고정효과는 이 개별 기업들의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“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시간이 지나도 변하지 않는 고유한 특성 및 주기적 패턴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＂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을 회귀식의 상수항으로 각각 다르게 부여해서 통째로 </a:t>
            </a:r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흡수해버림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원래 이 회사는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3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월만 되면 만기가 돌아와서 돈을 빼는 경향이 있구나 하는 기업별 맞춤형 만기 리듬을 모델이 미리 계산해서 제쳐두는 것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시간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FE: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특정 시점에서 거시경제적 이유로 만기가 몰릴 수 있음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특정 분기말이나 연말에는 은행권 전체적으로 예금 만기가 도래하는 물량이 급증할 수 있음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(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예시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시간 고정효과는 모든 법인에게 공통으로 작용하는 특정 월의 거시적 충격이나 계절성을 통제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2024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년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5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월은 전 지역적으로 </a:t>
            </a:r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거치식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 만기가 </a:t>
            </a:r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몰려있던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 달이네 하는 전체 시장의 공통 리듬을 시간 더미가 다 </a:t>
            </a:r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걷어냄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교호작용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법인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FE + 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시간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FE 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를 걷어내고 남는 것은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“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평상시의 만기 리듬과 계절성을 모두 제거한 후 오직 지역 수출 충격이 터졌을 때 그 기업의 예금이 평소와 다르게 어떻게 </a:t>
            </a: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움직였는가의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순수편차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”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만약 </a:t>
            </a:r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거치식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 예금의 하락이 단순히 만기가 되어서 자연스럽게 </a:t>
            </a:r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빠진것이라면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lang="en-US" altLang="ko-KR" dirty="0">
                <a:latin typeface="굴림체" panose="020B0609000101010101" pitchFamily="49" charset="-127"/>
                <a:ea typeface="굴림체" panose="020B0609000101010101" pitchFamily="49" charset="-127"/>
              </a:rPr>
              <a:t>FE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에 다 </a:t>
            </a:r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녹아있어야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 정상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이 모든 통제를 거치고도 수출 하락 충격 시점에 </a:t>
            </a:r>
            <a:r>
              <a:rPr lang="ko-KR" altLang="en-US" dirty="0" err="1">
                <a:latin typeface="굴림체" panose="020B0609000101010101" pitchFamily="49" charset="-127"/>
                <a:ea typeface="굴림체" panose="020B0609000101010101" pitchFamily="49" charset="-127"/>
              </a:rPr>
              <a:t>거치식</a:t>
            </a:r>
            <a:r>
              <a:rPr lang="ko-KR" altLang="en-US" dirty="0">
                <a:latin typeface="굴림체" panose="020B0609000101010101" pitchFamily="49" charset="-127"/>
                <a:ea typeface="굴림체" panose="020B0609000101010101" pitchFamily="49" charset="-127"/>
              </a:rPr>
              <a:t> 예금이 유의하게 푹 꺼지는 현상이 관측된다면 평상시 만기 리듬으로 설명할 수 없는 유동성 압박에 의한 중도해지 및 인출이라는 증거가 됨</a:t>
            </a: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r>
              <a:rPr lang="ko-KR" altLang="en-US" dirty="0">
                <a:solidFill>
                  <a:srgbClr val="C00000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근데 어떤 기업의 만기 스케줄이 매달 불규칙하게 급변하면 법인</a:t>
            </a:r>
            <a:r>
              <a:rPr lang="en-US" altLang="ko-KR" dirty="0">
                <a:solidFill>
                  <a:srgbClr val="C00000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FE</a:t>
            </a:r>
            <a:r>
              <a:rPr lang="ko-KR" altLang="en-US" dirty="0">
                <a:solidFill>
                  <a:srgbClr val="C00000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가 완벽하게 걸러내지 못함</a:t>
            </a:r>
            <a:endParaRPr lang="en-US" altLang="ko-KR" dirty="0">
              <a:solidFill>
                <a:srgbClr val="C00000"/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7595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7791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1585</Words>
  <Application>Microsoft Office PowerPoint</Application>
  <PresentationFormat>와이드스크린</PresentationFormat>
  <Paragraphs>116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굴림</vt:lpstr>
      <vt:lpstr>굴림체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다혜 신</dc:creator>
  <cp:lastModifiedBy>다혜 신</cp:lastModifiedBy>
  <cp:revision>2</cp:revision>
  <dcterms:created xsi:type="dcterms:W3CDTF">2026-09-27T07:19:34Z</dcterms:created>
  <dcterms:modified xsi:type="dcterms:W3CDTF">2026-09-27T13:15:59Z</dcterms:modified>
</cp:coreProperties>
</file>