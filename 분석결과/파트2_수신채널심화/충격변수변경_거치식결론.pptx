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거치식 β₃</c:v>
                </c:pt>
              </c:strCache>
            </c:strRef>
          </c:tx>
          <c:spPr>
            <a:solidFill>
              <a:srgbClr val="6B7785"/>
            </a:solidFill>
          </c:spPr>
          <c:invertIfNegative val="0"/>
          <c:dPt>
            <c:idx val="2"/>
            <c:spPr>
              <a:solidFill>
                <a:srgbClr val="2D7A4F"/>
              </a:solidFill>
            </c:spPr>
          </c:dPt>
          <c:dPt>
            <c:idx val="3"/>
            <c:spPr>
              <a:solidFill>
                <a:srgbClr val="2D7A4F"/>
              </a:solidFill>
            </c:spPr>
          </c:dPt>
          <c:cat>
            <c:strRef>
              <c:f>Sheet1!$A$2:$A$5</c:f>
              <c:strCache>
                <c:ptCount val="4"/>
                <c:pt idx="0">
                  <c:v>h = 3</c:v>
                </c:pt>
                <c:pt idx="1">
                  <c:v>h = 6</c:v>
                </c:pt>
                <c:pt idx="2">
                  <c:v>h = 9</c:v>
                </c:pt>
                <c:pt idx="3">
                  <c:v>h = 12 (주)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0.543</c:v>
                </c:pt>
                <c:pt idx="1">
                  <c:v>0.832</c:v>
                </c:pt>
                <c:pt idx="2">
                  <c:v>1.396</c:v>
                </c:pt>
                <c:pt idx="3">
                  <c:v>1.334</c:v>
                </c:pt>
              </c:numCache>
            </c:numRef>
          </c:val>
        </c:ser>
        <c:dLbls>
          <c:numFmt formatCode="+0.00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7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numFmt formatCode="+0.0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같은 달 상관</c:v>
                </c:pt>
              </c:strCache>
            </c:strRef>
          </c:tx>
          <c:spPr>
            <a:solidFill>
              <a:srgbClr val="1C263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대구
수출 총액 vs 제조업 생산</c:v>
                </c:pt>
                <c:pt idx="1">
                  <c:v>경북
수출 총액 vs 제조업 생산</c:v>
                </c:pt>
                <c:pt idx="2">
                  <c:v>업종별 (법인 수 가중)
수출 총액 vs 각 업종 생산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0.64</c:v>
                </c:pt>
                <c:pt idx="2">
                  <c:v>0.28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하락 판정 일치율</c:v>
                </c:pt>
              </c:strCache>
            </c:strRef>
          </c:tx>
          <c:spPr>
            <a:solidFill>
              <a:srgbClr val="C8621E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대구
수출 총액 vs 제조업 생산</c:v>
                </c:pt>
                <c:pt idx="1">
                  <c:v>경북
수출 총액 vs 제조업 생산</c:v>
                </c:pt>
                <c:pt idx="2">
                  <c:v>업종별 (법인 수 가중)
수출 총액 vs 각 업종 생산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0.67</c:v>
                </c:pt>
                <c:pt idx="1">
                  <c:v>0.83</c:v>
                </c:pt>
                <c:pt idx="2">
                  <c:v>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우연히 겹칠 때 기대값</c:v>
                </c:pt>
              </c:strCache>
            </c:strRef>
          </c:tx>
          <c:spPr>
            <a:solidFill>
              <a:srgbClr val="D5DBE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대구
수출 총액 vs 제조업 생산</c:v>
                </c:pt>
                <c:pt idx="1">
                  <c:v>경북
수출 총액 vs 제조업 생산</c:v>
                </c:pt>
                <c:pt idx="2">
                  <c:v>업종별 (법인 수 가중)
수출 총액 vs 각 업종 생산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0.51</c:v>
                </c:pt>
                <c:pt idx="1">
                  <c:v>0.52</c:v>
                </c:pt>
                <c:pt idx="2">
                  <c:v>0.53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5DBE1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BE1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78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latin typeface="맑은 고딕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89A5E"/>
                </a:solidFill>
                <a:latin typeface="맑은 고딕"/>
              </a:rPr>
              <a:t>저축성예금 · 팀 통일 사양 · 탐색적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맑은 고딕"/>
              </a:rPr>
              <a:t>같은 불황에서도,</a:t>
            </a:r>
          </a:p>
          <a:p>
            <a:pPr algn="l"/>
            <a:r>
              <a:rPr sz="4200" b="1" i="0">
                <a:solidFill>
                  <a:srgbClr val="FFFFFF"/>
                </a:solidFill>
                <a:latin typeface="맑은 고딕"/>
              </a:rPr>
              <a:t>외환거래 법인은 거치식을 더 깬다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9D3DD"/>
                </a:solidFill>
                <a:latin typeface="맑은 고딕"/>
              </a:rPr>
              <a:t>충격을 ‘지역 수출’에서 ‘지역 × 업종 생산지수’로 바꾼 이유와 결과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충격변수를 바꾼 이유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633"/>
                </a:solidFill>
                <a:latin typeface="맑은 고딕"/>
              </a:rPr>
              <a:t>1차 금속 거치식: 두 방법의 결과가 정반대였다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맑은 고딕"/>
              </a:rPr>
              <a:t>LP와 DiD의 결과가 반대로 나왔다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E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77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5D70"/>
                </a:solidFill>
                <a:latin typeface="맑은 고딕"/>
              </a:rPr>
              <a:t>LP (h=12)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D7A4F"/>
                </a:solidFill>
                <a:latin typeface="맑은 고딕"/>
              </a:rPr>
              <a:t>−0.094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2044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633"/>
                </a:solidFill>
                <a:latin typeface="맑은 고딕"/>
              </a:rPr>
              <a:t>“수출 부진 뒤 노출 법인 예금 증가”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24028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A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3774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5D70"/>
                </a:solidFill>
                <a:latin typeface="맑은 고딕"/>
              </a:rPr>
              <a:t>DiD (하락기)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74320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B02E2E"/>
                </a:solidFill>
                <a:latin typeface="맑은 고딕"/>
              </a:rPr>
              <a:t>−1.16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352044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2633"/>
                </a:solidFill>
                <a:latin typeface="맑은 고딕"/>
              </a:rPr>
              <a:t>“수출 하락기에 노출 법인 예금 낮음”</a:t>
            </a:r>
          </a:p>
        </p:txBody>
      </p:sp>
      <p:sp>
        <p:nvSpPr>
          <p:cNvPr id="14" name="Oval 13"/>
          <p:cNvSpPr/>
          <p:nvPr/>
        </p:nvSpPr>
        <p:spPr>
          <a:xfrm>
            <a:off x="6309360" y="1645920"/>
            <a:ext cx="420624" cy="420624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27632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C2633"/>
                </a:solidFill>
                <a:latin typeface="맑은 고딕"/>
              </a:rPr>
              <a:t>원인을 추적해 보니 8개 법인의 사건이었다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4028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317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89A5E"/>
                </a:solidFill>
                <a:latin typeface="맑은 고딕"/>
              </a:rPr>
              <a:t>2024년에 계좌를 열고 닫은 8곳 제외 (39곳 → 31곳)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D3DD"/>
                </a:solidFill>
                <a:latin typeface="맑은 고딕"/>
              </a:rPr>
              <a:t>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83464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−0.094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41080" y="2907792"/>
            <a:ext cx="411480" cy="292608"/>
          </a:xfrm>
          <a:prstGeom prst="rightArrow">
            <a:avLst/>
          </a:prstGeom>
          <a:solidFill>
            <a:srgbClr val="C86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8346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D3DD"/>
                </a:solidFill>
                <a:latin typeface="맑은 고딕"/>
              </a:rPr>
              <a:t>−0.038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83464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08A8A"/>
                </a:solidFill>
                <a:latin typeface="맑은 고딕"/>
              </a:rPr>
              <a:t>p=0.11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74720"/>
            <a:ext cx="822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D3DD"/>
                </a:solidFill>
                <a:latin typeface="맑은 고딕"/>
              </a:rPr>
              <a:t>DiD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47472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</a:rPr>
              <a:t>−1.16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41080" y="3547872"/>
            <a:ext cx="411480" cy="292608"/>
          </a:xfrm>
          <a:prstGeom prst="rightArrow">
            <a:avLst/>
          </a:prstGeom>
          <a:solidFill>
            <a:srgbClr val="C86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47472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D3DD"/>
                </a:solidFill>
                <a:latin typeface="맑은 고딕"/>
              </a:rPr>
              <a:t>−0.31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347472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08A8A"/>
                </a:solidFill>
                <a:latin typeface="맑은 고딕"/>
              </a:rPr>
              <a:t>p=0.24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8621E"/>
                </a:solidFill>
                <a:latin typeface="맑은 고딕"/>
              </a:rPr>
              <a:t>무슨 일이 있었나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2633"/>
                </a:solidFill>
                <a:latin typeface="맑은 고딕"/>
              </a:rPr>
              <a:t>수출이 오래 나빴다 → 부진이 끝나갈 무렵 노출 법인 5곳이 계좌를 열고, 비노출 법인 3곳이 계좌를 닫았다 → 그 뒤 수출은 회복.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4A5D70"/>
                </a:solidFill>
                <a:latin typeface="맑은 고딕"/>
              </a:rPr>
              <a:t>LP는 ‘부진 뒤’를, DiD는 ‘부진 중’을 봐서 같은 사건을 반대로 읽었다. 개설 법인 5곳 중 3곳은 수출 실적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충격변수를 바꾼 이유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633"/>
                </a:solidFill>
                <a:latin typeface="맑은 고딕"/>
              </a:rPr>
              <a:t>근본 원인은 ‘충격이 2개뿐’이라는 점이었다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459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맑은 고딕"/>
              </a:rPr>
              <a:t>충격 지표를 바꿔도 방향이 뒤집혔다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7568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D70"/>
                </a:solidFill>
                <a:latin typeface="맑은 고딕"/>
              </a:rPr>
              <a:t>전월비·건수·수입·수출BSI·생산지수로 바꿀 때마다 부호가 바뀜. 모두 같은 8곳에 기대고 있었다.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34639"/>
            <a:ext cx="420624" cy="420624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맑은 고딕"/>
              </a:rPr>
              <a:t>충격이 대구·경북 2개 시계열뿐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18687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D70"/>
                </a:solidFill>
                <a:latin typeface="맑은 고딕"/>
              </a:rPr>
              <a:t>사건이 사실상 두 번. 소수 법인의 우연한 사건과 구분할 수 없었다.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77639"/>
            <a:ext cx="420624" cy="420624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319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2633"/>
                </a:solidFill>
                <a:latin typeface="맑은 고딕"/>
              </a:rPr>
              <a:t>변동이 훨씬 많은 충격을 찾았다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61688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D70"/>
                </a:solidFill>
                <a:latin typeface="맑은 고딕"/>
              </a:rPr>
              <a:t>지역 × 업종 생산지수: 같은 달에도 업종마다 다른 충격 → 40여 개 시계열.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5D70"/>
                </a:solidFill>
                <a:latin typeface="맑은 고딕"/>
              </a:rPr>
              <a:t>기존: 지역 수출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1031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4A5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0" y="2103120"/>
            <a:ext cx="868680" cy="868680"/>
          </a:xfrm>
          <a:prstGeom prst="roundRect">
            <a:avLst>
              <a:gd name="adj" fmla="val 12000"/>
            </a:avLst>
          </a:prstGeom>
          <a:solidFill>
            <a:srgbClr val="4A5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0632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4A5D70"/>
                </a:solidFill>
                <a:latin typeface="맑은 고딕"/>
              </a:rPr>
              <a:t>2개 시계열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32520" y="2377440"/>
            <a:ext cx="457200" cy="365760"/>
          </a:xfrm>
          <a:prstGeom prst="rightArrow">
            <a:avLst/>
          </a:prstGeom>
          <a:solidFill>
            <a:srgbClr val="C86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7A4F"/>
                </a:solidFill>
                <a:latin typeface="맑은 고딕"/>
              </a:rPr>
              <a:t>변경: 지역 × 업종 생산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3767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0655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67544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14432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61319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808208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055096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301984" y="2103120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0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73767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20655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67544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314432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61319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808208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1055096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301984" y="2350008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73767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20655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067544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314432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61319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808208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1055096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301984" y="2596896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26880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573767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820655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67544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314432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561319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808208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1055096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1301984" y="2843784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326880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573767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820655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067544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314432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561319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808208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1055096" y="3090672"/>
            <a:ext cx="192024" cy="192024"/>
          </a:xfrm>
          <a:prstGeom prst="roundRect">
            <a:avLst>
              <a:gd name="adj" fmla="val 20000"/>
            </a:avLst>
          </a:prstGeom>
          <a:solidFill>
            <a:srgbClr val="2D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429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D7A4F"/>
                </a:solidFill>
                <a:latin typeface="맑은 고딕"/>
              </a:rPr>
              <a:t>40여 개 시계열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8862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맑은 고딕"/>
              </a:rPr>
              <a:t>확장 분석 41개 · 팀 사양 44개</a:t>
            </a:r>
          </a:p>
          <a:p>
            <a:pPr algn="l"/>
            <a:r>
              <a:rPr sz="1000" b="0" i="0">
                <a:solidFill>
                  <a:srgbClr val="6B7785"/>
                </a:solidFill>
                <a:latin typeface="맑은 고딕"/>
              </a:rPr>
              <a:t>(소재지 값 없으면 전국 값으로 채움)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맑은 고딕"/>
              </a:rPr>
              <a:t>그래서 </a:t>
            </a:r>
            <a:r>
              <a:rPr sz="1600" b="1" i="0">
                <a:solidFill>
                  <a:srgbClr val="E89A5E"/>
                </a:solidFill>
                <a:latin typeface="맑은 고딕"/>
              </a:rPr>
              <a:t>같은 달·같은 지역이라도 업종마다 업황이 다르다</a:t>
            </a:r>
            <a:r>
              <a:rPr sz="1600" b="0" i="0">
                <a:solidFill>
                  <a:srgbClr val="FFFFFF"/>
                </a:solidFill>
                <a:latin typeface="맑은 고딕"/>
              </a:rPr>
              <a:t>는 변동을 써서, 소수 법인의 사건이 아닌 많은 법인의 반응으로 방향을 식별한다.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분석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633"/>
                </a:solidFill>
                <a:latin typeface="맑은 고딕"/>
              </a:rPr>
              <a:t>DiD형 분석: 같은 충격을 받은 두 그룹의 변화를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A5D70"/>
                </a:solidFill>
                <a:latin typeface="맑은 고딕"/>
              </a:rPr>
              <a:t>충격 직전 (t−1)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A5D70"/>
                </a:solidFill>
                <a:latin typeface="맑은 고딕"/>
              </a:rPr>
              <a:t>h개월 뒤 (t+h)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6459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8621E"/>
                </a:solidFill>
                <a:latin typeface="맑은 고딕"/>
              </a:rPr>
              <a:t>외환노출 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10312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C2633"/>
                </a:solidFill>
                <a:latin typeface="맑은 고딕"/>
              </a:rPr>
              <a:t>거치식 ln(잔액)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10312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103120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C2633"/>
                </a:solidFill>
                <a:latin typeface="맑은 고딕"/>
              </a:rPr>
              <a:t>거치식 ln(잔액)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80559" y="2450591"/>
            <a:ext cx="457200" cy="320040"/>
          </a:xfrm>
          <a:prstGeom prst="rightArrow">
            <a:avLst/>
          </a:prstGeom>
          <a:solidFill>
            <a:srgbClr val="C86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3108960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8621E"/>
                </a:solidFill>
                <a:latin typeface="맑은 고딕"/>
              </a:rPr>
              <a:t>변화 ① = 뒤 − 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16459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5D70"/>
                </a:solidFill>
                <a:latin typeface="맑은 고딕"/>
              </a:rPr>
              <a:t>비노출 법인
(매칭 대조군)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383279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383279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C2633"/>
                </a:solidFill>
                <a:latin typeface="맑은 고딕"/>
              </a:rPr>
              <a:t>거치식 ln(잔액)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83279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383279"/>
            <a:ext cx="21031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C2633"/>
                </a:solidFill>
                <a:latin typeface="맑은 고딕"/>
              </a:rPr>
              <a:t>거치식 ln(잔액)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80559" y="3730752"/>
            <a:ext cx="457200" cy="320040"/>
          </a:xfrm>
          <a:prstGeom prst="rightArrow">
            <a:avLst/>
          </a:prstGeom>
          <a:solidFill>
            <a:srgbClr val="4A5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389120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5D70"/>
                </a:solidFill>
                <a:latin typeface="맑은 고딕"/>
              </a:rPr>
              <a:t>변화 ② = 뒤 − 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6583680" cy="1463040"/>
          </a:xfrm>
          <a:prstGeom prst="roundRect">
            <a:avLst>
              <a:gd name="adj" fmla="val 6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828032"/>
            <a:ext cx="60350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β₃ = (변화 ① − 변화 ②)가 그 달 업황 충격 크기에 따라 커지는 정도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E89A5E"/>
                </a:solidFill>
                <a:latin typeface="맑은 고딕"/>
              </a:rPr>
              <a:t>β₃ &gt; 0 → 업황이 나쁠수록 외환노출 법인 거치식이 비노출 법인보다 더 줄어든다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C9D3DD"/>
                </a:solidFill>
                <a:latin typeface="맑은 고딕"/>
              </a:rPr>
              <a:t>10%p 부진 시 효과 = (exp(−0.1 × β₃) − 1) × 100%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498079" y="1645920"/>
          <a:ext cx="4114800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29260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사양 (팀 통일, 파트3 기준)</a:t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충격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지역 × 업종 생산지수 전년비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표본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대구·경북 제조업, 거치식 보유이력 305곳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처치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외환노출 (수출·수입 금액 실적)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대조군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성향점수매칭 1:3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고정효과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법인 FE + 연도 더미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표준오차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법인·월 이중 클러스터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주 결과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h = 12 (h = 6 병기)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498079" y="63093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맑은 고딕"/>
              </a:rPr>
              <a:t>①의 DiD(하락기 더미)와 달리 충격 크기를 연속값으로, h별로 추정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633"/>
                </a:solidFill>
                <a:latin typeface="맑은 고딕"/>
              </a:rPr>
              <a:t>업황 부진 뒤 9~12개월에 걸쳐 거치식이 줄었다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5448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맑은 고딕"/>
              </a:rPr>
              <a:t>p(이중): 0.210 · 0.176 · 0.033 · 0.029  |  초록 = p &lt; 0.05  |  매칭 후, 제조업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00200"/>
            <a:ext cx="4297680" cy="2103120"/>
          </a:xfrm>
          <a:prstGeom prst="roundRect">
            <a:avLst>
              <a:gd name="adj" fmla="val 6000"/>
            </a:avLst>
          </a:prstGeom>
          <a:solidFill>
            <a:srgbClr val="E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737360"/>
            <a:ext cx="374903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D7A4F"/>
                </a:solidFill>
                <a:latin typeface="맑은 고딕"/>
              </a:rPr>
              <a:t>h = 12 주 결과</a:t>
            </a:r>
          </a:p>
          <a:p>
            <a:pPr algn="l">
              <a:spcAft>
                <a:spcPts val="200"/>
              </a:spcAft>
            </a:pPr>
            <a:r>
              <a:rPr sz="3600" b="1" i="0">
                <a:solidFill>
                  <a:srgbClr val="1C2633"/>
                </a:solidFill>
                <a:latin typeface="맑은 고딕"/>
              </a:rPr>
              <a:t>+1.334</a:t>
            </a:r>
            <a:r>
              <a:rPr sz="1600" b="1" i="0">
                <a:solidFill>
                  <a:srgbClr val="2D7A4F"/>
                </a:solidFill>
                <a:latin typeface="맑은 고딕"/>
              </a:rPr>
              <a:t>  p = 0.029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4A5D70"/>
                </a:solidFill>
                <a:latin typeface="맑은 고딕"/>
              </a:rPr>
              <a:t>업황 10%p 부진 → 노출 법인 거치식 약 −12.5% (비노출 대비)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931920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사전추세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931920"/>
            <a:ext cx="2834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2633"/>
                </a:solidFill>
                <a:latin typeface="맑은 고딕"/>
              </a:rPr>
              <a:t>없음 (충격 전 6개월 −0.263, p=0.50)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663440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강건성 10종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663440"/>
            <a:ext cx="2834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2633"/>
                </a:solidFill>
                <a:latin typeface="맑은 고딕"/>
              </a:rPr>
              <a:t>모두 유지 (환율·금리·영업일수·매칭 없음·8곳 제외 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394960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적립식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5394960"/>
            <a:ext cx="28346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C2633"/>
                </a:solidFill>
                <a:latin typeface="맑은 고딕"/>
              </a:rPr>
              <a:t>반응 없음 (h=12 −0.773, p=0.17)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생산지수 vs 수출 충격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633"/>
                </a:solidFill>
                <a:latin typeface="맑은 고딕"/>
              </a:rPr>
              <a:t>지역 전체로는 같이 움직이지만, 업종별로는 따로 논다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08760"/>
          <a:ext cx="66751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77840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785"/>
                </a:solidFill>
                <a:latin typeface="맑은 고딕"/>
              </a:rPr>
              <a:t>2023~2025 월별 · 일치율 0.60 = 60%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00200"/>
            <a:ext cx="4023360" cy="2011680"/>
          </a:xfrm>
          <a:prstGeom prst="roundRect">
            <a:avLst>
              <a:gd name="adj" fmla="val 6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4747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89A5E"/>
                </a:solidFill>
                <a:latin typeface="맑은 고딕"/>
              </a:rPr>
              <a:t>업종별 일치율 60%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두 지표가 서로 전혀 관계없어도 우연히 53%는 겹친다. 60%는 그보다 조금 높을 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3794760"/>
            <a:ext cx="40233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2633"/>
                </a:solidFill>
                <a:latin typeface="맑은 고딕"/>
              </a:rPr>
              <a:t>하락 판정 일치율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D70"/>
                </a:solidFill>
                <a:latin typeface="맑은 고딕"/>
              </a:rPr>
              <a:t>같은 달에 두 지표가 둘 다 하락(전년비 &lt; 0)이거나 둘 다 상승인 비율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C2633"/>
                </a:solidFill>
                <a:latin typeface="맑은 고딕"/>
              </a:rPr>
              <a:t>수출 데이터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4A5D70"/>
                </a:solidFill>
                <a:latin typeface="맑은 고딕"/>
              </a:rPr>
              <a:t>export_region.csv의 yoy_exp_amt = 대구·경북 전 품목 수출 총액 전년비. </a:t>
            </a:r>
            <a:r>
              <a:rPr sz="1200" b="1" i="0">
                <a:solidFill>
                  <a:srgbClr val="C8621E"/>
                </a:solidFill>
                <a:latin typeface="맑은 고딕"/>
              </a:rPr>
              <a:t>업종별 수출이 아니라 지역 전체 수출.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업종별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633"/>
                </a:solidFill>
                <a:latin typeface="맑은 고딕"/>
              </a:rPr>
              <a:t>같은 지역 수출 아래에서도 업종마다 업황이 제각각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7589520" cy="46360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2194560"/>
                <a:gridCol w="914400"/>
                <a:gridCol w="1143000"/>
                <a:gridCol w="1234440"/>
                <a:gridCol w="1371600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지역</a:t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업종</a:t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제조업 법인 수</a:t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같은 달 상관</a:t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하락 판정 일치율</a:t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생산 하락 달 / 수출 하락 달</a:t>
                      </a:r>
                    </a:p>
                  </a:txBody>
                  <a:tcPr marL="91440" marR="91440" marT="45720" marB="45720" anchor="ctr">
                    <a:solidFill>
                      <a:srgbClr val="1C2633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자동차 및 트레일러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8621E"/>
                          </a:solidFill>
                          <a:latin typeface="맑은 고딕"/>
                        </a:rPr>
                        <a:t>−0.16</a:t>
                      </a:r>
                    </a:p>
                  </a:txBody>
                  <a:tcPr marL="91440" marR="91440" marT="45720" marB="45720" anchor="ctr">
                    <a:solidFill>
                      <a:srgbClr val="FB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53%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8621E"/>
                          </a:solidFill>
                          <a:latin typeface="맑은 고딕"/>
                        </a:rPr>
                        <a:t>15 / 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금속 가공제품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0.37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61%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16 / 26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기타 기계 및 장비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8621E"/>
                          </a:solidFill>
                          <a:latin typeface="맑은 고딕"/>
                        </a:rPr>
                        <a:t>0.00</a:t>
                      </a:r>
                    </a:p>
                  </a:txBody>
                  <a:tcPr marL="91440" marR="91440" marT="45720" marB="45720" anchor="ctr">
                    <a:solidFill>
                      <a:srgbClr val="FB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53%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21 / 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대구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기타 기계 및 장비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239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D7A4F"/>
                          </a:solidFill>
                          <a:latin typeface="맑은 고딕"/>
                        </a:rPr>
                        <a:t>0.53</a:t>
                      </a:r>
                    </a:p>
                  </a:txBody>
                  <a:tcPr marL="91440" marR="91440" marT="45720" marB="45720" anchor="ctr">
                    <a:solidFill>
                      <a:srgbClr val="E5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75%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23 / 22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식료품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D7A4F"/>
                          </a:solidFill>
                          <a:latin typeface="맑은 고딕"/>
                        </a:rPr>
                        <a:t>0.66</a:t>
                      </a:r>
                    </a:p>
                  </a:txBody>
                  <a:tcPr marL="91440" marR="91440" marT="45720" marB="45720" anchor="ctr">
                    <a:solidFill>
                      <a:srgbClr val="E5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64%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19 / 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대구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섬유제품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206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8621E"/>
                          </a:solidFill>
                          <a:latin typeface="맑은 고딕"/>
                        </a:rPr>
                        <a:t>0.16</a:t>
                      </a:r>
                    </a:p>
                  </a:txBody>
                  <a:tcPr marL="91440" marR="91440" marT="45720" marB="45720" anchor="ctr">
                    <a:solidFill>
                      <a:srgbClr val="FB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50%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28 / 22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섬유제품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61%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26 / 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화학 물질 및 화학제품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170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0.50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81%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31 / 26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대구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자동차 및 트레일러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D7A4F"/>
                          </a:solidFill>
                          <a:latin typeface="맑은 고딕"/>
                        </a:rPr>
                        <a:t>0.61</a:t>
                      </a:r>
                    </a:p>
                  </a:txBody>
                  <a:tcPr marL="91440" marR="91440" marT="45720" marB="45720" anchor="ctr">
                    <a:solidFill>
                      <a:srgbClr val="E5F3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67%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10 / 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대구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금속 가공제품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141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0.41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58%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23 / 22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경북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1차 금속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8621E"/>
                          </a:solidFill>
                          <a:latin typeface="맑은 고딕"/>
                        </a:rPr>
                        <a:t>0.13</a:t>
                      </a:r>
                    </a:p>
                  </a:txBody>
                  <a:tcPr marL="91440" marR="91440" marT="45720" marB="45720" anchor="ctr">
                    <a:solidFill>
                      <a:srgbClr val="FBEE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53%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23 / 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대구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식료품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0.22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56%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2633"/>
                          </a:solidFill>
                          <a:latin typeface="맑은 고딕"/>
                        </a:rPr>
                        <a:t>30 / 22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7589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맑은 고딕"/>
              </a:rPr>
              <a:t>법인 수 상위 12개 지역×업종 전부 · 업종명 줄임(예: “금속 가공제품 제조업; 기계 및 가구 제외” → 금속 가공제품)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54480"/>
            <a:ext cx="3200400" cy="2148840"/>
          </a:xfrm>
          <a:prstGeom prst="roundRect">
            <a:avLst>
              <a:gd name="adj" fmla="val 6000"/>
            </a:avLst>
          </a:prstGeom>
          <a:solidFill>
            <a:srgbClr val="FB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691640"/>
            <a:ext cx="2743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8621E"/>
                </a:solidFill>
                <a:latin typeface="맑은 고딕"/>
              </a:rPr>
              <a:t>경북 자동차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633"/>
                </a:solidFill>
                <a:latin typeface="맑은 고딕"/>
              </a:rPr>
              <a:t>지역 수출이 26개월 하락했는데 생산이 하락한 달은 15개월뿐. 상관은 오히려 음수(−0.16).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886200"/>
            <a:ext cx="3200400" cy="2331720"/>
          </a:xfrm>
          <a:prstGeom prst="roundRect">
            <a:avLst>
              <a:gd name="adj" fmla="val 6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4023360"/>
            <a:ext cx="2743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E89A5E"/>
                </a:solidFill>
                <a:latin typeface="맑은 고딕"/>
              </a:rPr>
              <a:t>의미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지역 수출 총량은 개별 회사가 겪는 업황을 잘 대표하지 못한다. </a:t>
            </a:r>
            <a:r>
              <a:rPr sz="1300" b="0" i="0">
                <a:solidFill>
                  <a:srgbClr val="C9D3DD"/>
                </a:solidFill>
                <a:latin typeface="맑은 고딕"/>
              </a:rPr>
              <a:t>거치식이 업황에는 반응하고 지역 수출에는 반응하지 않은 것은 모순이 아니다.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C2633"/>
                </a:solidFill>
                <a:latin typeface="맑은 고딕"/>
              </a:rPr>
              <a:t>같은 불황에서도 외환거래 법인은 거치식을 더 깬다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1C2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4241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맑은 고딕"/>
              </a:rPr>
              <a:t>같은 지역·같은 업종의 업황이 똑같이 나빠져도, </a:t>
            </a:r>
            <a:r>
              <a:rPr sz="1800" b="1" i="0">
                <a:solidFill>
                  <a:srgbClr val="E89A5E"/>
                </a:solidFill>
                <a:latin typeface="맑은 고딕"/>
              </a:rPr>
              <a:t>외환거래 법인은 비노출 법인보다 거치식을 더 많이 해지하거나 재예치하지 않았다.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8621E"/>
                </a:solidFill>
                <a:latin typeface="맑은 고딕"/>
              </a:rPr>
              <a:t>어디서 깨는지가 구체적이다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429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어떻게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49039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633"/>
                </a:solidFill>
                <a:latin typeface="맑은 고딕"/>
              </a:rPr>
              <a:t>계좌를 닫는다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5262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D70"/>
                </a:solidFill>
                <a:latin typeface="맑은 고딕"/>
              </a:rPr>
              <a:t>보유 여부 +0.198 (p=0.031)
잔액 양수만 0.000 (p=0.997)
→ 잔액을 조금 빼는 게 아니라 해지·미재예치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0420" y="329184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3429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얼마나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4740" y="3749039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633"/>
                </a:solidFill>
                <a:latin typeface="맑은 고딕"/>
              </a:rPr>
              <a:t>보유 확률 약 2%p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4740" y="45262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D70"/>
                </a:solidFill>
                <a:latin typeface="맑은 고딕"/>
              </a:rPr>
              <a:t>업황 10%p 부진 시
비노출 법인 대비
log 잔액 약 −12.5%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9184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49039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633"/>
                </a:solidFill>
                <a:latin typeface="맑은 고딕"/>
              </a:rPr>
              <a:t>9~12개월에 걸쳐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262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D70"/>
                </a:solidFill>
                <a:latin typeface="맑은 고딕"/>
              </a:rPr>
              <a:t>h = 3·6은 근거 없음
h = 9 (p=0.033), h = 12 (p=0.029)
→ 한 번의 사건이 아닌 점진적 반응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3980" y="329184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300" y="34290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621E"/>
                </a:solidFill>
                <a:latin typeface="맑은 고딕"/>
              </a:rPr>
              <a:t>누구와 비교해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3749039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C2633"/>
                </a:solidFill>
                <a:latin typeface="맑은 고딕"/>
              </a:rPr>
              <a:t>같은 지역·업종 안에서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4526280"/>
            <a:ext cx="2148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A5D70"/>
                </a:solidFill>
                <a:latin typeface="맑은 고딕"/>
              </a:rPr>
              <a:t>매칭으로 닮은 비노출 법인과 비교
수출 회사만 남겨도 유지 (p=0.043)
8곳 빼도 유지 (p=0.036)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9A5E"/>
                </a:solidFill>
                <a:latin typeface="맑은 고딕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발표에서 이렇게 말한다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744200" cy="1828800"/>
          </a:xfrm>
          <a:prstGeom prst="roundRect">
            <a:avLst>
              <a:gd name="adj" fmla="val 6000"/>
            </a:avLst>
          </a:prstGeom>
          <a:solidFill>
            <a:srgbClr val="2A36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14984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맑은 고딕"/>
              </a:rPr>
              <a:t>“지역 수출 지표는 업종별 실제 업황과 방향이 60%만 일치했다. 업종 생산지수로 충격을 다시 정의하자, 같은 업황 부진에서도 외환거래 법인은 비노출 법인보다 12개월에 걸쳐 거치식 예금을 더 많이 해지하거나 재예치하지 않았다(p=0.029, 사전추세 없음, 탐색적 분석).”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D3DD"/>
                </a:solidFill>
                <a:latin typeface="맑은 고딕"/>
              </a:rPr>
              <a:t>함께 밝힐 점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27939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h = 12는 결과를 본 뒤 정했다. h = 6에서는 근거 없음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4297680"/>
            <a:ext cx="365760" cy="365760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427939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유의성은 경계선 (법인 20% 무작위 제외 50회 중 24회 p ≥ 0.05)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983480"/>
            <a:ext cx="365760" cy="365760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6519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충격은 수출이 아니라 업황(생산지수, 내수 포함)</a:t>
            </a:r>
          </a:p>
        </p:txBody>
      </p:sp>
      <p:sp>
        <p:nvSpPr>
          <p:cNvPr id="13" name="Oval 12"/>
          <p:cNvSpPr/>
          <p:nvPr/>
        </p:nvSpPr>
        <p:spPr>
          <a:xfrm>
            <a:off x="6172200" y="4983480"/>
            <a:ext cx="365760" cy="365760"/>
          </a:xfrm>
          <a:prstGeom prst="ellipse">
            <a:avLst/>
          </a:prstGeom>
          <a:solidFill>
            <a:srgbClr val="C86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96519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적립식은 반응 없음 · 지역 수출 충격으로는 방향 미확정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8B6"/>
                </a:solidFill>
                <a:latin typeface="맑은 고딕"/>
              </a:rPr>
              <a:t>쓰지 말 표현: “수출 충격이 거치식을 줄인다” · “수출 연동 업종에서 더 크다”(팀 사양에서 차이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